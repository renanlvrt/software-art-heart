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2.xml"/><Relationship Id="rId3" Type="http://schemas.openxmlformats.org/officeDocument/2006/relationships/presProps" Target="presProps.xml"/><Relationship Id="rId7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Relationship Id="rId9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1A5D0-B2C3-C773-2440-8E92D5B7CB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B32A8B-8D6B-4DD6-F344-F2A31DD999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E4D66A-6D08-0F4A-7635-27B26F247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D1CE0-9306-4637-BCD9-0BC72F2B7C4E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828911-861A-B793-A0F2-BD1443C71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FA970A-225B-82B7-DEFA-869E7FD07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4918C-AA94-439A-BD3A-63C1A82400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2106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873AE-6312-DED4-51D1-6320CA9BB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5A26E8-7079-C59B-195A-4FEEED1C42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8E2859-4DDC-0E5F-12E8-881EE450A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D1CE0-9306-4637-BCD9-0BC72F2B7C4E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A26403-676E-519D-26AC-889A36CB8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B0A01E-6894-12E4-934D-C945DC4C0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4918C-AA94-439A-BD3A-63C1A82400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37869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54EAD-B79B-1D4F-F51B-2BD9A2158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F1CCD6-2C23-EDDE-C32D-F310CD4BC0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4A95FA-0F26-3005-3FA9-0261824BD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D1CE0-9306-4637-BCD9-0BC72F2B7C4E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504746-9289-D040-FEC5-4DD923AF6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3671A6-28B4-71C1-FA57-65FBADDA5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4918C-AA94-439A-BD3A-63C1A82400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12100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710E4-3BA1-C4A6-B112-9E3700F74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43B790-6205-B59A-3B7A-29FFC1B61A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04A8ED-4897-50B7-84E4-80B06A37E1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2AA207-1C4A-658F-BE0F-BF8C148AE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D1CE0-9306-4637-BCD9-0BC72F2B7C4E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6A6585-B7EF-7151-9994-E65638D33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CCE3EA-053B-3CA7-51C0-7ECFC8D5D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4918C-AA94-439A-BD3A-63C1A82400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76869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A791F-3185-99BE-8A6D-6CD887586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5E6FED-94AF-15FA-B39D-F324D36A94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C59829-9D8E-94B1-217B-FCF38768CE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5BA6E7-A5D4-266F-8C50-CB4605EE55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9C5989-692A-ACEA-7986-BE73DDCB81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79A021-B3CC-6389-BE76-0EF0EA91B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D1CE0-9306-4637-BCD9-0BC72F2B7C4E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36EDBC-5222-486C-15BA-8BE164F2E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E44DA2-8C25-8B39-9D57-67935D0CD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4918C-AA94-439A-BD3A-63C1A82400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06987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1D1DC-FBE4-2FF9-0797-8C0D3EEFB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1731C7-B298-2CB1-DF7E-3E42CCCDB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D1CE0-9306-4637-BCD9-0BC72F2B7C4E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DF5B2F-34AA-EC1D-31C0-7B66F2314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BFC481-8A14-0FE9-DE80-3DEAF7C26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4918C-AA94-439A-BD3A-63C1A82400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48874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3E323B-2BB7-32AE-AAD8-FEF973284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D1CE0-9306-4637-BCD9-0BC72F2B7C4E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B5A2B3-CC20-1D9B-79E3-C6974D059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DA7C03-9C39-AD63-0E3B-DC68C0564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4918C-AA94-439A-BD3A-63C1A82400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80247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7726B-3485-BD0D-E653-E3355B8B7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528945-5E06-1C5A-C97C-1C75F38739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A17B97-C4F0-4D93-2A48-C6C4D7F9E0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F52E57-5F50-0A38-0FD0-7E7AF7481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D1CE0-9306-4637-BCD9-0BC72F2B7C4E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A74D2F-D701-6BAB-5EA2-9ABE4DAA5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657E3A-867C-B7E4-2E7D-0D7E6FA8E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4918C-AA94-439A-BD3A-63C1A82400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18540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F39BB-258B-60FA-C49D-9A83572A6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179AA1-1A97-231F-E660-2C8CB0ADB0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44B63B-E132-0430-C75D-1259ABE952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3955C3-B269-1A5C-709D-EB8B6F902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D1CE0-9306-4637-BCD9-0BC72F2B7C4E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7C2220-6C27-25A0-0AC1-194848960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CA3954-DC31-71C3-E1B5-ACA8D3B0E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4918C-AA94-439A-BD3A-63C1A82400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95664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C4CAB-A93B-A8D7-0123-5BD64A22F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E94BFD-1A04-23FD-DBD8-87539F5ED5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627B55-8528-18E9-7D9F-2B72C797C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D1CE0-9306-4637-BCD9-0BC72F2B7C4E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800F9C-6518-AE1D-49A1-547F78CF0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B3BE62-CAD6-B890-3718-89C544AE7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4918C-AA94-439A-BD3A-63C1A82400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8654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2F5CBC-5026-1704-47B5-22D31DFFD6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8E8BFB-8249-FA55-DCF0-0D91BBEF8F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1A2892-C019-DCA0-4914-30E9BD186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D1CE0-9306-4637-BCD9-0BC72F2B7C4E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4949E-4F01-DFE1-662E-A6EE6CF7A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D50433-9815-8184-C1FA-0C6763900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4918C-AA94-439A-BD3A-63C1A82400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00480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6D8848-E2D3-A281-DDD2-9C687DA87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E8B352-DD50-F446-A1A2-923F74BAF2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EE5B07-F455-F8CE-96F7-5E62CCE073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8D1CE0-9306-4637-BCD9-0BC72F2B7C4E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D6E6BE-04D9-0838-1B78-20B1074E3C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1331C1-977E-F647-B60A-3505CE86C7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84918C-AA94-439A-BD3A-63C1A82400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3338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elektrisola.com/en/Products/Enamelled-Wire/Technical-Data#iec60317" TargetMode="External"/><Relationship Id="rId4" Type="http://schemas.openxmlformats.org/officeDocument/2006/relationships/hyperlink" Target="https://www.conrad.com/en/p/block-enamel-coated-copper-wire-outside-diameter-w-o-coating-0-10-mm-1351-m-0-10-kg-605034.html?srsltid=AfmBOoqx3Vp_F8GMqn4cixEFq7y5gNTsUAISd4o6gwdk-ZAJASbicwcU#attributesNotes_delivery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E90B0D8-B96B-D0FC-FD93-4CFD58A7C6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033993"/>
              </p:ext>
            </p:extLst>
          </p:nvPr>
        </p:nvGraphicFramePr>
        <p:xfrm>
          <a:off x="393086" y="336863"/>
          <a:ext cx="5574400" cy="850392"/>
        </p:xfrm>
        <a:graphic>
          <a:graphicData uri="http://schemas.openxmlformats.org/drawingml/2006/table">
            <a:tbl>
              <a:tblPr firstCol="1" bandRow="1">
                <a:tableStyleId>{5C22544A-7EE6-4342-B048-85BDC9FD1C3A}</a:tableStyleId>
              </a:tblPr>
              <a:tblGrid>
                <a:gridCol w="2687349">
                  <a:extLst>
                    <a:ext uri="{9D8B030D-6E8A-4147-A177-3AD203B41FA5}">
                      <a16:colId xmlns:a16="http://schemas.microsoft.com/office/drawing/2014/main" val="1446556595"/>
                    </a:ext>
                  </a:extLst>
                </a:gridCol>
                <a:gridCol w="2887051">
                  <a:extLst>
                    <a:ext uri="{9D8B030D-6E8A-4147-A177-3AD203B41FA5}">
                      <a16:colId xmlns:a16="http://schemas.microsoft.com/office/drawing/2014/main" val="6588272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effectLst/>
                        </a:rPr>
                        <a:t>Inductance/µH</a:t>
                      </a:r>
                      <a:endParaRPr lang="en-GB" sz="18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dirty="0">
                          <a:effectLst/>
                        </a:rPr>
                        <a:t>4.0-4.2</a:t>
                      </a:r>
                      <a:endParaRPr lang="en-GB" sz="18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62484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effectLst/>
                        </a:rPr>
                        <a:t>Resistance/Ω</a:t>
                      </a:r>
                      <a:endParaRPr lang="en-GB" sz="18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effectLst/>
                        </a:rPr>
                        <a:t>0.097-0.182</a:t>
                      </a:r>
                      <a:endParaRPr lang="en-GB" sz="18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880745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effectLst/>
                        </a:rPr>
                        <a:t>Breakdown Voltage/V</a:t>
                      </a:r>
                      <a:endParaRPr lang="en-GB" sz="18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dirty="0">
                          <a:effectLst/>
                        </a:rPr>
                        <a:t>500 (worst case scenario)</a:t>
                      </a:r>
                      <a:endParaRPr lang="en-GB" sz="18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89640345"/>
                  </a:ext>
                </a:extLst>
              </a:tr>
            </a:tbl>
          </a:graphicData>
        </a:graphic>
      </p:graphicFrame>
      <p:pic>
        <p:nvPicPr>
          <p:cNvPr id="1026" name="Picture 2" descr="A close-up of a wire&#10;&#10;AI-generated content may be incorrect.">
            <a:extLst>
              <a:ext uri="{FF2B5EF4-FFF2-40B4-BE49-F238E27FC236}">
                <a16:creationId xmlns:a16="http://schemas.microsoft.com/office/drawing/2014/main" id="{92D5A1F5-FE2E-A169-88AB-1EA98BA992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803"/>
          <a:stretch>
            <a:fillRect/>
          </a:stretch>
        </p:blipFill>
        <p:spPr bwMode="auto">
          <a:xfrm>
            <a:off x="393086" y="2058218"/>
            <a:ext cx="5892800" cy="2254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DE9F344-4CB5-D7FD-F8FA-62A5213114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086" y="4769668"/>
            <a:ext cx="5734050" cy="825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C61E2C89-1650-A5E6-3802-FFBB1D007C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086" y="1337176"/>
            <a:ext cx="5158593" cy="9848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Methodology</a:t>
            </a:r>
            <a:endParaRPr kumimoji="0" lang="en-GB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Inductance and resistance are measured via LCR meter at 100kHz frequency.</a:t>
            </a:r>
            <a:endParaRPr kumimoji="0" lang="en-GB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Breakdown Voltage:</a:t>
            </a:r>
            <a:endParaRPr kumimoji="0" lang="en-GB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929F794A-765E-279C-5953-C03A39507D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086" y="4271764"/>
            <a:ext cx="1814143" cy="5386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  <a:hlinkClick r:id="rId4"/>
              </a:rPr>
              <a:t>Datasheet Source</a:t>
            </a:r>
            <a:endParaRPr kumimoji="0" lang="en-GB" altLang="en-US" sz="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5078638E-2182-71C2-F494-E04461CB26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086" y="5745089"/>
            <a:ext cx="3037141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  <a:hlinkClick r:id="rId5"/>
              </a:rPr>
              <a:t>IEC 60317 Source</a:t>
            </a:r>
            <a:endParaRPr kumimoji="0" lang="en-GB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2222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3FA6AAFA421B9418F78D257C3A7E55F" ma:contentTypeVersion="13" ma:contentTypeDescription="Create a new document." ma:contentTypeScope="" ma:versionID="30b4422dbb140da9a0e48d7138c42df5">
  <xsd:schema xmlns:xsd="http://www.w3.org/2001/XMLSchema" xmlns:xs="http://www.w3.org/2001/XMLSchema" xmlns:p="http://schemas.microsoft.com/office/2006/metadata/properties" xmlns:ns2="f7fa545e-6ab3-4693-ba7e-0093980d26aa" xmlns:ns3="e0b53bdb-ad15-4542-b509-5814b2c15ecb" targetNamespace="http://schemas.microsoft.com/office/2006/metadata/properties" ma:root="true" ma:fieldsID="6845d2288d5cc41e409429ecfe7a8840" ns2:_="" ns3:_="">
    <xsd:import namespace="f7fa545e-6ab3-4693-ba7e-0093980d26aa"/>
    <xsd:import namespace="e0b53bdb-ad15-4542-b509-5814b2c15ec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7fa545e-6ab3-4693-ba7e-0093980d26a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d651d785-cc9b-461e-a4c9-c589c330ffe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b53bdb-ad15-4542-b509-5814b2c15ec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121481f0-cbe1-4fe5-852c-01962b083b4e}" ma:internalName="TaxCatchAll" ma:showField="CatchAllData" ma:web="e0b53bdb-ad15-4542-b509-5814b2c15ec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7fa545e-6ab3-4693-ba7e-0093980d26aa">
      <Terms xmlns="http://schemas.microsoft.com/office/infopath/2007/PartnerControls"/>
    </lcf76f155ced4ddcb4097134ff3c332f>
    <TaxCatchAll xmlns="e0b53bdb-ad15-4542-b509-5814b2c15ecb" xsi:nil="true"/>
  </documentManagement>
</p:properties>
</file>

<file path=customXml/itemProps1.xml><?xml version="1.0" encoding="utf-8"?>
<ds:datastoreItem xmlns:ds="http://schemas.openxmlformats.org/officeDocument/2006/customXml" ds:itemID="{BBC5F9EC-228C-47BB-84A6-1832236D0AEA}"/>
</file>

<file path=customXml/itemProps2.xml><?xml version="1.0" encoding="utf-8"?>
<ds:datastoreItem xmlns:ds="http://schemas.openxmlformats.org/officeDocument/2006/customXml" ds:itemID="{7317833F-FEB7-4780-ACE1-192EB196931E}"/>
</file>

<file path=customXml/itemProps3.xml><?xml version="1.0" encoding="utf-8"?>
<ds:datastoreItem xmlns:ds="http://schemas.openxmlformats.org/officeDocument/2006/customXml" ds:itemID="{769ACFCB-91D1-4AB0-BB2F-2A9EBE809419}"/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39</Words>
  <Application>Microsoft Office PowerPoint</Application>
  <PresentationFormat>Widescreen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LIM, LIM Z.H. (Student)</dc:creator>
  <cp:lastModifiedBy>LIM, LIM Z.H. (Student)</cp:lastModifiedBy>
  <cp:revision>1</cp:revision>
  <dcterms:created xsi:type="dcterms:W3CDTF">2025-11-03T21:44:08Z</dcterms:created>
  <dcterms:modified xsi:type="dcterms:W3CDTF">2025-11-03T21:48:32Z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0x010100C3FA6AAFA421B9418F78D257C3A7E55F</vt:lpwstr>
  </property>
</Properties>
</file>